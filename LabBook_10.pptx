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98" r:id="rId6"/>
    <p:sldId id="299" r:id="rId7"/>
    <p:sldId id="300" r:id="rId8"/>
    <p:sldId id="301" r:id="rId9"/>
    <p:sldId id="291" r:id="rId10"/>
    <p:sldId id="292" r:id="rId11"/>
    <p:sldId id="297" r:id="rId12"/>
    <p:sldId id="303" r:id="rId13"/>
    <p:sldId id="302" r:id="rId14"/>
    <p:sldId id="288" r:id="rId15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DE4FD8-F4AD-8C31-28FD-9A7ADF38DBD9}" v="1672" dt="2026-03-15T16:30:25.896"/>
    <p1510:client id="{EF220667-F4F6-499D-9212-57EA7FB4A815}" v="2230" dt="2026-03-15T16:49:46.4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>
        <p:scale>
          <a:sx n="50" d="100"/>
          <a:sy n="50" d="100"/>
        </p:scale>
        <p:origin x="2167" y="90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3T19:24:48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15/03/2026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ACA8-C339-C3D5-BB8B-19CB77AF8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24ECA79-68B7-1EED-57EC-0A033007F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7780272-FD0E-F120-6838-ED398E430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44738B-1E8C-E10B-C0B7-43C6F5A68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1631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D0AE2-7517-BD22-C708-3E0006EB9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877D5F4-F5D3-333F-1877-F3F68AAED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1BE62C8-FB31-CD7F-E4DB-C847D8034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F36787-1977-27B4-5978-03506FF67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3193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7A30F-A613-8CA1-8FCA-56DB3D59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C898FB0-361E-A6C5-3F4D-725A604F7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DFA451F-FD76-A46B-10AE-AFE90261F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4F270D-1679-0D1A-8809-8D5C4A704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1486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00B96-CAE5-F82B-1DA6-E31FDC85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1006FCC-1F97-7661-260D-77E1DD1DB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3ED3A3-A419-628A-2E5D-196E731A0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DD3A3B-98BB-AA42-317E-7928ADFA5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7616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AA65-166B-474B-A6C9-9858D8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58223-A8BA-05F6-464C-EC03A9FB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CB4DF-C329-8F47-9ECE-661B5B2BF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En </a:t>
            </a:r>
            <a:r>
              <a:rPr lang="es-ES" err="1"/>
              <a:t>shallow</a:t>
            </a:r>
            <a:r>
              <a:rPr lang="es-ES"/>
              <a:t> tenemos </a:t>
            </a:r>
            <a:r>
              <a:rPr lang="es-ES" err="1"/>
              <a:t>neff</a:t>
            </a:r>
            <a:r>
              <a:rPr lang="es-ES"/>
              <a:t> mas altos en ambos modos, el </a:t>
            </a:r>
            <a:r>
              <a:rPr lang="es-ES" err="1"/>
              <a:t>indice</a:t>
            </a:r>
            <a:r>
              <a:rPr lang="es-ES"/>
              <a:t> de grupo es mayor en la </a:t>
            </a:r>
            <a:r>
              <a:rPr lang="es-ES" err="1"/>
              <a:t>deep</a:t>
            </a:r>
            <a:r>
              <a:rPr lang="es-ES"/>
              <a:t> y la </a:t>
            </a:r>
            <a:r>
              <a:rPr lang="es-ES" err="1"/>
              <a:t>dispersion</a:t>
            </a:r>
            <a:r>
              <a:rPr lang="es-ES"/>
              <a:t> es menor en la </a:t>
            </a:r>
            <a:r>
              <a:rPr lang="es-ES" err="1"/>
              <a:t>shallow</a:t>
            </a:r>
            <a:r>
              <a:rPr lang="es-ES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B2276-A4E2-DFBF-0088-6997E86C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15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E807D-44B9-8941-E16D-00DA58BB4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2D7675B-56E1-9B5C-A90E-6F037B8E4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45729D-D8DC-39D7-4EFA-694EE1B25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E1C16D-D201-8E61-F208-DDC0EB47D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2715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5C2D-F016-34C0-A842-7DE275B7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A9D9F08-F68D-C80A-8DF4-BCD842039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0B10A5-A57B-2FBF-6764-1736151AF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B1B907-F4DD-F3CD-F5C4-74F1880F3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3702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customXml" Target="../ink/ink1.xml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869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Students</a:t>
            </a:r>
            <a:r>
              <a:rPr lang="es-ES" spc="165" dirty="0">
                <a:latin typeface="Arial"/>
                <a:cs typeface="Arial"/>
              </a:rPr>
              <a:t>: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Youssef</a:t>
            </a:r>
            <a:r>
              <a:rPr lang="es-ES" spc="165" dirty="0">
                <a:latin typeface="Arial"/>
                <a:cs typeface="Arial"/>
              </a:rPr>
              <a:t> </a:t>
            </a:r>
            <a:r>
              <a:rPr lang="es-ES" spc="165" dirty="0" err="1">
                <a:latin typeface="Arial"/>
                <a:cs typeface="Arial"/>
              </a:rPr>
              <a:t>Habassa</a:t>
            </a:r>
            <a:r>
              <a:rPr lang="es-ES" spc="165" dirty="0">
                <a:latin typeface="Arial"/>
                <a:cs typeface="Arial"/>
              </a:rPr>
              <a:t> El Assad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>
                <a:latin typeface="Arial"/>
                <a:cs typeface="Arial"/>
              </a:rPr>
              <a:t>Mara Sarrión Masip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A1920-F5B1-15AA-12B0-81EDDD1ED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6F8A5DE-D957-92F6-9FE9-17FF40DB44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n-US" sz="2500" dirty="0"/>
            </a:br>
            <a:r>
              <a:rPr lang="en-US" sz="2500" dirty="0"/>
              <a:t>MATERIALS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07BADDA1-39A1-E811-59EE-D5AB6E84E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5DE7781A-AD24-48EB-F963-A92237C493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D47E31-3F84-C380-6D37-080F3A8CC2F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CD10ED61-4636-7E43-C0E9-978D73BBB3B7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1BF6F17-A664-0349-E107-BD76343FD4B9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ÍNDICE DE REFRACCIÓN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Número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adimensional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describe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cómo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luz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través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un medio. 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muestra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dicho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varios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materiales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práctica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usarán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núcleo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cubierta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845BF-D6AD-5FB6-1DBB-EB54619170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88" y="1547658"/>
            <a:ext cx="3542050" cy="27596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78B31-52E4-54BB-5C8D-D857D40D2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3925" y="1547658"/>
            <a:ext cx="3677793" cy="28171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1A8019-1F58-D1F9-49D0-39C86EEE53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7141" y="1507945"/>
            <a:ext cx="3779869" cy="285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31F52-1F58-29F7-80BD-1EF02E36A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0E0513A-3CFA-830A-0D09-26D9B8CFA4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n-US" sz="2500" dirty="0"/>
            </a:br>
            <a:r>
              <a:rPr lang="en-US" sz="2500" dirty="0"/>
              <a:t>CROSS – SECTION DEFINITION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759A8FB-18E0-21A3-4C58-62F997B5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38A31DE1-8BC9-3596-4D7F-A64DC62FDD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040D060-B681-5F57-1CCA-B7C4D3FCC3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80F40B0F-B6DD-56C0-BB18-E91A335E6428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B72549C-3F06-2F58-DE0C-BCB0A832FD9F}"/>
              </a:ext>
            </a:extLst>
          </p:cNvPr>
          <p:cNvSpPr txBox="1"/>
          <p:nvPr/>
        </p:nvSpPr>
        <p:spPr>
          <a:xfrm>
            <a:off x="583019" y="5341616"/>
            <a:ext cx="1119997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muestra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representación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corte transversal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Si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fijamos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diapositiva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anterior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longitude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1.55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micras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refracción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nitruro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silicio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adquiere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valor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próximo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2,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mientras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dióxido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silicio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aproxima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0,00075. Si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observamos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código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derecha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confirmamos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cumple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teórico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refracción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ambos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materiales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conforman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515283-6E07-4AAD-7D45-951FF21AD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086" y="1278664"/>
            <a:ext cx="5276850" cy="38576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70307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AF5BF-9567-AA99-74D8-2AF275734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02BD38A1-E6E6-A4AB-E8FE-F97E98DA7F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n-US" sz="2500" dirty="0"/>
            </a:br>
            <a:r>
              <a:rPr lang="en-US" sz="2500" dirty="0"/>
              <a:t>SIMULATIONS – NUMERICAL RESULTS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C9EACB6B-DAAA-6E19-0CB5-BEAC30D099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A6C4C066-58F1-C908-56E5-5028872309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E15E8F6-CAB1-DE10-49B0-4254EF1BC53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626CAAF5-E382-1E3F-EEAA-CC5E1AE1DCD3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42FEC8-FB54-10D7-2F39-466AE49E1A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588" b="2015"/>
          <a:stretch>
            <a:fillRect/>
          </a:stretch>
        </p:blipFill>
        <p:spPr>
          <a:xfrm>
            <a:off x="3299866" y="1447800"/>
            <a:ext cx="5665290" cy="438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504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D705-5E6C-FACA-A122-1DF6C39C6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B569D8E-BD83-4AA3-FD21-D8F3F69D6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n-US" sz="2500" dirty="0"/>
            </a:br>
            <a:r>
              <a:rPr lang="en-US" sz="2500" dirty="0"/>
              <a:t>SIMULATIONS – PLOTS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A338531-FF3B-EF2A-D583-19D79CF4C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EF4A1626-0381-7564-0389-A4FD2E7E3A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E6EA15E-08AF-1A30-97BE-A4BF3A4F565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882A4193-AEBC-B3B1-28EE-D4F68F440CEA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8A6600-AD17-139E-7310-FF064801A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140" y="1424632"/>
            <a:ext cx="3450647" cy="23223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687A03-B524-EC4F-E727-DDB68B898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1453" y="1418585"/>
            <a:ext cx="3449985" cy="23218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955AB8-25FA-C4CB-5650-5F7DB416A8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5999" y="3836726"/>
            <a:ext cx="3373787" cy="22701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5A72FF-5A3E-123D-F04D-A87FDC12ED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7545" y="3831259"/>
            <a:ext cx="3449984" cy="227465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26293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0.01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A5F0FDF-2A95-453B-4ECA-AEB637FF2694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9971" cy="13998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Los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resultados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muestran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índice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efectivo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decrece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con la longitude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rango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elegido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(1500 a 1600 nm). Este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comportamiento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esperado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ya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que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 longitudes de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onda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mayores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modo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óptico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expande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más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en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cladding,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reduciendo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el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confinamiento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del core y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por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tanto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reduciendo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E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𝜂</m:t>
                        </m:r>
                      </m:e>
                      <m:sub>
                        <m:r>
                          <a:rPr lang="es-ES" sz="1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𝑒𝑓𝑓</m:t>
                        </m:r>
                      </m:sub>
                    </m:sSub>
                  </m:oMath>
                </a14:m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Comparando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ambas </a:t>
                </a:r>
                <a:r>
                  <a:rPr lang="en-U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gráficas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s-E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la </a:t>
                </a:r>
                <a:r>
                  <a:rPr lang="es-E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deep</a:t>
                </a:r>
                <a:r>
                  <a:rPr lang="es-E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waveguide</a:t>
                </a:r>
                <a:r>
                  <a:rPr lang="es-E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presenta valores de índice efectivo ligeramente mayores para los modos guiados que la </a:t>
                </a:r>
                <a:r>
                  <a:rPr lang="es-E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shallow</a:t>
                </a:r>
                <a:r>
                  <a:rPr lang="es-E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waveguide</a:t>
                </a:r>
                <a:r>
                  <a:rPr lang="es-E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, lo que indica un confinamiento modal más fuerte debido a que el núcleo está completamente grabado. En cambio, en la </a:t>
                </a:r>
                <a:r>
                  <a:rPr lang="es-E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shallow</a:t>
                </a:r>
                <a:r>
                  <a:rPr lang="es-E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waveguide</a:t>
                </a:r>
                <a:r>
                  <a:rPr lang="es-E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el confinamiento es algo menor porque el campo puede extenderse más en la región de </a:t>
                </a:r>
                <a:r>
                  <a:rPr lang="es-E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slab</a:t>
                </a:r>
                <a:r>
                  <a:rPr lang="es-E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. Además, en el caso de la </a:t>
                </a:r>
                <a:r>
                  <a:rPr lang="es-E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deep</a:t>
                </a:r>
                <a:r>
                  <a:rPr lang="es-E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waveguide</a:t>
                </a:r>
                <a:r>
                  <a:rPr lang="es-E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se observa que los modos 2 y 3 tienen valores de índice efectivo por debajo del índice del material del </a:t>
                </a:r>
                <a:r>
                  <a:rPr lang="es-E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cladding</a:t>
                </a:r>
                <a:r>
                  <a:rPr lang="es-E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(SiO2), lo que indica que no corresponden a modos guiados reales sino a modos de radiación, que el </a:t>
                </a:r>
                <a:r>
                  <a:rPr lang="es-ES" sz="1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solver</a:t>
                </a:r>
                <a:r>
                  <a:rPr lang="es-E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devuelve al solicitar más modos de los que la guía puede soportar de forma confinada.</a:t>
                </a:r>
                <a:endParaRPr lang="en-US" sz="1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CA5F0FDF-2A95-453B-4ECA-AEB637FF2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9971" cy="1399807"/>
              </a:xfrm>
              <a:prstGeom prst="rect">
                <a:avLst/>
              </a:prstGeom>
              <a:blipFill>
                <a:blip r:embed="rId5"/>
                <a:stretch>
                  <a:fillRect b="-851"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88F19863-7091-B8CA-F848-DBEA5CEEA027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4E7A47-20E2-3C27-D841-5A665642F6E2}"/>
              </a:ext>
            </a:extLst>
          </p:cNvPr>
          <p:cNvSpPr txBox="1"/>
          <p:nvPr/>
        </p:nvSpPr>
        <p:spPr>
          <a:xfrm>
            <a:off x="2285455" y="2671278"/>
            <a:ext cx="19805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4768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9C65D4-5494-F5CE-1094-CB0A32C33876}"/>
              </a:ext>
            </a:extLst>
          </p:cNvPr>
          <p:cNvSpPr txBox="1"/>
          <p:nvPr/>
        </p:nvSpPr>
        <p:spPr>
          <a:xfrm>
            <a:off x="8281672" y="2671278"/>
            <a:ext cx="17229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D4C233-B5D9-B6AA-93A8-CF2F130CFF9C}"/>
              </a:ext>
            </a:extLst>
          </p:cNvPr>
          <p:cNvSpPr txBox="1"/>
          <p:nvPr/>
        </p:nvSpPr>
        <p:spPr>
          <a:xfrm>
            <a:off x="642989" y="4402885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slab </a:t>
            </a:r>
            <a:r>
              <a:rPr lang="en-US" dirty="0"/>
              <a:t>= 150nm</a:t>
            </a:r>
            <a:endParaRPr lang="es-E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6E19ED-3B6B-7F05-3A65-FE040FC041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14" y="1557103"/>
            <a:ext cx="5299023" cy="30910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F0530B-F161-0E54-E886-0E5B01DB2F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9196" y="1559238"/>
            <a:ext cx="5207860" cy="303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5082897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200" dirty="0">
                <a:latin typeface="Arial"/>
                <a:cs typeface="Arial"/>
              </a:rPr>
              <a:t>En general, se </a:t>
            </a:r>
            <a:r>
              <a:rPr lang="en-US" sz="1200" dirty="0" err="1">
                <a:latin typeface="Arial"/>
                <a:cs typeface="Arial"/>
              </a:rPr>
              <a:t>observa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que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el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índice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efectivo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aumenta</a:t>
            </a:r>
            <a:r>
              <a:rPr lang="en-US" sz="1200" dirty="0">
                <a:latin typeface="Arial"/>
                <a:cs typeface="Arial"/>
              </a:rPr>
              <a:t> con la </a:t>
            </a:r>
            <a:r>
              <a:rPr lang="en-US" sz="1200" dirty="0" err="1">
                <a:latin typeface="Arial"/>
                <a:cs typeface="Arial"/>
              </a:rPr>
              <a:t>anchura</a:t>
            </a:r>
            <a:r>
              <a:rPr lang="en-US" sz="1200" dirty="0">
                <a:latin typeface="Arial"/>
                <a:cs typeface="Arial"/>
              </a:rPr>
              <a:t> de la </a:t>
            </a:r>
            <a:r>
              <a:rPr lang="en-US" sz="1200" dirty="0" err="1">
                <a:latin typeface="Arial"/>
                <a:cs typeface="Arial"/>
              </a:rPr>
              <a:t>guía</a:t>
            </a:r>
            <a:r>
              <a:rPr lang="en-US" sz="1200" dirty="0">
                <a:latin typeface="Arial"/>
                <a:cs typeface="Arial"/>
              </a:rPr>
              <a:t> de </a:t>
            </a:r>
            <a:r>
              <a:rPr lang="en-US" sz="1200" dirty="0" err="1">
                <a:latin typeface="Arial"/>
                <a:cs typeface="Arial"/>
              </a:rPr>
              <a:t>onda</a:t>
            </a:r>
            <a:r>
              <a:rPr lang="en-US" sz="1200" dirty="0">
                <a:latin typeface="Arial"/>
                <a:cs typeface="Arial"/>
              </a:rPr>
              <a:t>. Esto se </a:t>
            </a:r>
            <a:r>
              <a:rPr lang="en-US" sz="1200" dirty="0" err="1">
                <a:latin typeface="Arial"/>
                <a:cs typeface="Arial"/>
              </a:rPr>
              <a:t>debe</a:t>
            </a:r>
            <a:r>
              <a:rPr lang="en-US" sz="1200" dirty="0">
                <a:latin typeface="Arial"/>
                <a:cs typeface="Arial"/>
              </a:rPr>
              <a:t> a </a:t>
            </a:r>
            <a:r>
              <a:rPr lang="en-US" sz="1200" dirty="0" err="1">
                <a:latin typeface="Arial"/>
                <a:cs typeface="Arial"/>
              </a:rPr>
              <a:t>que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una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guía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más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ancha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proporciona</a:t>
            </a:r>
            <a:r>
              <a:rPr lang="en-US" sz="1200" dirty="0">
                <a:latin typeface="Arial"/>
                <a:cs typeface="Arial"/>
              </a:rPr>
              <a:t> mayor </a:t>
            </a:r>
            <a:r>
              <a:rPr lang="en-US" sz="1200" dirty="0" err="1">
                <a:latin typeface="Arial"/>
                <a:cs typeface="Arial"/>
              </a:rPr>
              <a:t>confinamiento</a:t>
            </a:r>
            <a:r>
              <a:rPr lang="en-US" sz="1200" dirty="0">
                <a:latin typeface="Arial"/>
                <a:cs typeface="Arial"/>
              </a:rPr>
              <a:t> modal, </a:t>
            </a:r>
            <a:r>
              <a:rPr lang="en-US" sz="1200" dirty="0" err="1">
                <a:latin typeface="Arial"/>
                <a:cs typeface="Arial"/>
              </a:rPr>
              <a:t>siendo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el</a:t>
            </a:r>
            <a:r>
              <a:rPr lang="en-US" sz="1200" dirty="0">
                <a:latin typeface="Arial"/>
                <a:cs typeface="Arial"/>
              </a:rPr>
              <a:t> modo 0 </a:t>
            </a:r>
            <a:r>
              <a:rPr lang="en-US" sz="1200" dirty="0" err="1">
                <a:latin typeface="Arial"/>
                <a:cs typeface="Arial"/>
              </a:rPr>
              <a:t>quien</a:t>
            </a:r>
            <a:r>
              <a:rPr lang="en-US" sz="1200" dirty="0">
                <a:latin typeface="Arial"/>
                <a:cs typeface="Arial"/>
              </a:rPr>
              <a:t> </a:t>
            </a:r>
            <a:r>
              <a:rPr lang="en-US" sz="1200" dirty="0" err="1">
                <a:latin typeface="Arial"/>
                <a:cs typeface="Arial"/>
              </a:rPr>
              <a:t>tiene</a:t>
            </a:r>
            <a:r>
              <a:rPr lang="en-US" sz="1200" dirty="0">
                <a:latin typeface="Arial"/>
                <a:cs typeface="Arial"/>
              </a:rPr>
              <a:t> mayor </a:t>
            </a:r>
            <a:r>
              <a:rPr lang="en-US" sz="1200" dirty="0" err="1">
                <a:latin typeface="Arial"/>
                <a:cs typeface="Arial"/>
              </a:rPr>
              <a:t>indice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efectivo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cuanto</a:t>
            </a:r>
            <a:r>
              <a:rPr lang="en-US" sz="1200" dirty="0">
                <a:latin typeface="Arial"/>
                <a:cs typeface="Arial"/>
              </a:rPr>
              <a:t> mas </a:t>
            </a:r>
            <a:r>
              <a:rPr lang="en-US" sz="1200" dirty="0" err="1">
                <a:latin typeface="Arial"/>
                <a:cs typeface="Arial"/>
              </a:rPr>
              <a:t>aumentamos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el</a:t>
            </a:r>
            <a:r>
              <a:rPr lang="en-US" sz="1200" dirty="0">
                <a:latin typeface="Arial"/>
                <a:cs typeface="Arial"/>
              </a:rPr>
              <a:t> ancho de la </a:t>
            </a:r>
            <a:r>
              <a:rPr lang="en-US" sz="1200" dirty="0" err="1">
                <a:latin typeface="Arial"/>
                <a:cs typeface="Arial"/>
              </a:rPr>
              <a:t>guia</a:t>
            </a:r>
            <a:r>
              <a:rPr lang="en-US" sz="1200" dirty="0">
                <a:latin typeface="Arial"/>
                <a:cs typeface="Arial"/>
              </a:rPr>
              <a:t>. </a:t>
            </a:r>
            <a:r>
              <a:rPr lang="en-US" sz="1200" dirty="0" err="1">
                <a:latin typeface="Arial"/>
                <a:cs typeface="Arial"/>
              </a:rPr>
              <a:t>Además</a:t>
            </a:r>
            <a:r>
              <a:rPr lang="en-US" sz="1200" dirty="0">
                <a:latin typeface="Arial"/>
                <a:cs typeface="Arial"/>
              </a:rPr>
              <a:t>, </a:t>
            </a:r>
            <a:r>
              <a:rPr lang="en-US" sz="1200" dirty="0" err="1">
                <a:latin typeface="Arial"/>
                <a:cs typeface="Arial"/>
              </a:rPr>
              <a:t>el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aumentar</a:t>
            </a:r>
            <a:r>
              <a:rPr lang="en-US" sz="1200" dirty="0">
                <a:latin typeface="Arial"/>
                <a:cs typeface="Arial"/>
              </a:rPr>
              <a:t> la </a:t>
            </a:r>
            <a:r>
              <a:rPr lang="en-US" sz="1200" dirty="0" err="1">
                <a:latin typeface="Arial"/>
                <a:cs typeface="Arial"/>
              </a:rPr>
              <a:t>anchura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hace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que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aparezcan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más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modos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guiados</a:t>
            </a:r>
            <a:r>
              <a:rPr lang="en-US" sz="1200" dirty="0">
                <a:latin typeface="Arial"/>
                <a:cs typeface="Arial"/>
              </a:rPr>
              <a:t>. Para </a:t>
            </a:r>
            <a:r>
              <a:rPr lang="en-US" sz="1200" dirty="0" err="1">
                <a:latin typeface="Arial"/>
                <a:cs typeface="Arial"/>
              </a:rPr>
              <a:t>anchuras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pequeñas</a:t>
            </a:r>
            <a:r>
              <a:rPr lang="en-US" sz="1200" dirty="0">
                <a:latin typeface="Arial"/>
                <a:cs typeface="Arial"/>
              </a:rPr>
              <a:t>, solo </a:t>
            </a:r>
            <a:r>
              <a:rPr lang="en-US" sz="1200" dirty="0" err="1">
                <a:latin typeface="Arial"/>
                <a:cs typeface="Arial"/>
              </a:rPr>
              <a:t>el</a:t>
            </a:r>
            <a:r>
              <a:rPr lang="en-US" sz="1200" dirty="0">
                <a:latin typeface="Arial"/>
                <a:cs typeface="Arial"/>
              </a:rPr>
              <a:t> modo 0 y </a:t>
            </a:r>
            <a:r>
              <a:rPr lang="en-US" sz="1200" dirty="0" err="1">
                <a:latin typeface="Arial"/>
                <a:cs typeface="Arial"/>
              </a:rPr>
              <a:t>el</a:t>
            </a:r>
            <a:r>
              <a:rPr lang="en-US" sz="1200" dirty="0">
                <a:latin typeface="Arial"/>
                <a:cs typeface="Arial"/>
              </a:rPr>
              <a:t> 1 </a:t>
            </a:r>
            <a:r>
              <a:rPr lang="en-US" sz="1200" dirty="0" err="1">
                <a:latin typeface="Arial"/>
                <a:cs typeface="Arial"/>
              </a:rPr>
              <a:t>están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claramente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guiados</a:t>
            </a:r>
            <a:r>
              <a:rPr lang="en-US" sz="1200" dirty="0">
                <a:latin typeface="Arial"/>
                <a:cs typeface="Arial"/>
              </a:rPr>
              <a:t>, </a:t>
            </a:r>
            <a:r>
              <a:rPr lang="en-US" sz="1200" dirty="0" err="1">
                <a:latin typeface="Arial"/>
                <a:cs typeface="Arial"/>
              </a:rPr>
              <a:t>mientras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que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los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modos</a:t>
            </a:r>
            <a:r>
              <a:rPr lang="en-US" sz="1200" dirty="0">
                <a:latin typeface="Arial"/>
                <a:cs typeface="Arial"/>
              </a:rPr>
              <a:t> de </a:t>
            </a:r>
            <a:r>
              <a:rPr lang="en-US" sz="1200" dirty="0" err="1">
                <a:latin typeface="Arial"/>
                <a:cs typeface="Arial"/>
              </a:rPr>
              <a:t>orden</a:t>
            </a:r>
            <a:r>
              <a:rPr lang="en-US" sz="1200" dirty="0">
                <a:latin typeface="Arial"/>
                <a:cs typeface="Arial"/>
              </a:rPr>
              <a:t> superior </a:t>
            </a:r>
            <a:r>
              <a:rPr lang="en-US" sz="1200" dirty="0" err="1">
                <a:latin typeface="Arial"/>
                <a:cs typeface="Arial"/>
              </a:rPr>
              <a:t>presentan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índices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efectivos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menores</a:t>
            </a:r>
            <a:r>
              <a:rPr lang="en-US" sz="1200" dirty="0">
                <a:latin typeface="Arial"/>
                <a:cs typeface="Arial"/>
              </a:rPr>
              <a:t> al del cladding. Tal </a:t>
            </a:r>
            <a:r>
              <a:rPr lang="en-US" sz="1200" dirty="0" err="1">
                <a:latin typeface="Arial"/>
                <a:cs typeface="Arial"/>
              </a:rPr>
              <a:t>como</a:t>
            </a:r>
            <a:r>
              <a:rPr lang="en-US" sz="1200" dirty="0">
                <a:latin typeface="Arial"/>
                <a:cs typeface="Arial"/>
              </a:rPr>
              <a:t> se </a:t>
            </a:r>
            <a:r>
              <a:rPr lang="en-US" sz="1200" dirty="0" err="1">
                <a:latin typeface="Arial"/>
                <a:cs typeface="Arial"/>
              </a:rPr>
              <a:t>muestra</a:t>
            </a:r>
            <a:r>
              <a:rPr lang="en-US" sz="1200" dirty="0">
                <a:latin typeface="Arial"/>
                <a:cs typeface="Arial"/>
              </a:rPr>
              <a:t> en la </a:t>
            </a:r>
            <a:r>
              <a:rPr lang="en-US" sz="1200" dirty="0" err="1">
                <a:latin typeface="Arial"/>
                <a:cs typeface="Arial"/>
              </a:rPr>
              <a:t>gráfica</a:t>
            </a:r>
            <a:r>
              <a:rPr lang="en-US" sz="1200" dirty="0">
                <a:latin typeface="Arial"/>
                <a:cs typeface="Arial"/>
              </a:rPr>
              <a:t>, a </a:t>
            </a:r>
            <a:r>
              <a:rPr lang="en-US" sz="1200" dirty="0" err="1">
                <a:latin typeface="Arial"/>
                <a:cs typeface="Arial"/>
              </a:rPr>
              <a:t>partir</a:t>
            </a:r>
            <a:r>
              <a:rPr lang="en-US" sz="1200" dirty="0">
                <a:latin typeface="Arial"/>
                <a:cs typeface="Arial"/>
              </a:rPr>
              <a:t> de </a:t>
            </a:r>
            <a:r>
              <a:rPr lang="en-US" sz="1200" dirty="0" err="1">
                <a:latin typeface="Arial"/>
                <a:cs typeface="Arial"/>
              </a:rPr>
              <a:t>una</a:t>
            </a:r>
            <a:r>
              <a:rPr lang="en-US" sz="1200" dirty="0">
                <a:latin typeface="Arial"/>
                <a:cs typeface="Arial"/>
              </a:rPr>
              <a:t> </a:t>
            </a:r>
            <a:r>
              <a:rPr lang="en-US" sz="1200" dirty="0" err="1">
                <a:latin typeface="Arial"/>
                <a:cs typeface="Arial"/>
              </a:rPr>
              <a:t>anchura</a:t>
            </a:r>
            <a:r>
              <a:rPr lang="en-US" sz="1200" dirty="0">
                <a:latin typeface="Arial"/>
                <a:cs typeface="Arial"/>
              </a:rPr>
              <a:t> de </a:t>
            </a:r>
            <a:r>
              <a:rPr lang="en-US" sz="1200" dirty="0" err="1">
                <a:latin typeface="Arial"/>
                <a:cs typeface="Arial"/>
              </a:rPr>
              <a:t>aproximadamente</a:t>
            </a:r>
            <a:r>
              <a:rPr lang="en-US" sz="1200" dirty="0">
                <a:latin typeface="Arial"/>
                <a:cs typeface="Arial"/>
              </a:rPr>
              <a:t> 1.3 um, </a:t>
            </a:r>
            <a:r>
              <a:rPr lang="en-US" sz="1200" dirty="0" err="1">
                <a:latin typeface="Arial"/>
                <a:cs typeface="Arial"/>
              </a:rPr>
              <a:t>el</a:t>
            </a:r>
            <a:r>
              <a:rPr lang="en-US" sz="1200" dirty="0">
                <a:latin typeface="Arial"/>
                <a:cs typeface="Arial"/>
              </a:rPr>
              <a:t> modo 2 </a:t>
            </a:r>
            <a:r>
              <a:rPr lang="en-US" sz="1200" dirty="0" err="1">
                <a:latin typeface="Arial"/>
                <a:cs typeface="Arial"/>
              </a:rPr>
              <a:t>pasa</a:t>
            </a:r>
            <a:r>
              <a:rPr lang="en-US" sz="1200" dirty="0">
                <a:latin typeface="Arial"/>
                <a:cs typeface="Arial"/>
              </a:rPr>
              <a:t> de ser modo </a:t>
            </a:r>
            <a:r>
              <a:rPr lang="en-US" sz="1200" dirty="0" err="1">
                <a:latin typeface="Arial"/>
                <a:cs typeface="Arial"/>
              </a:rPr>
              <a:t>radiado</a:t>
            </a:r>
            <a:r>
              <a:rPr lang="en-US" sz="1200" dirty="0">
                <a:latin typeface="Arial"/>
                <a:cs typeface="Arial"/>
              </a:rPr>
              <a:t> a </a:t>
            </a:r>
            <a:r>
              <a:rPr lang="en-US" sz="1200" dirty="0" err="1">
                <a:latin typeface="Arial"/>
                <a:cs typeface="Arial"/>
              </a:rPr>
              <a:t>guiado</a:t>
            </a:r>
            <a:r>
              <a:rPr lang="en-US" sz="1200" dirty="0">
                <a:latin typeface="Arial"/>
                <a:cs typeface="Arial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2"/>
            <a:ext cx="11199971" cy="3610827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F5BFDA-8EC1-8C73-A932-F36C4DB93C73}"/>
              </a:ext>
            </a:extLst>
          </p:cNvPr>
          <p:cNvSpPr txBox="1"/>
          <p:nvPr/>
        </p:nvSpPr>
        <p:spPr>
          <a:xfrm>
            <a:off x="2286000" y="2671278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94938C-AED1-388A-99BD-CFA13AEF4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1344" y="1450226"/>
            <a:ext cx="6149312" cy="357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A0F9-B230-D9FC-3CE7-03BD08CF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94400B4-EE16-8E85-AB54-E82FE3B29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/>
              <a:t>Learning outcome #4 – Waveguide compact model</a:t>
            </a:r>
            <a:br>
              <a:rPr lang="en-US" sz="2500" spc="-5">
                <a:latin typeface="+mj-lt"/>
                <a:cs typeface="Lucida Sans"/>
              </a:rPr>
            </a:br>
            <a:r>
              <a:rPr lang="en-US" b="0"/>
              <a:t>- Find the compact models of the following waveguides: </a:t>
            </a:r>
            <a:br>
              <a:rPr lang="en-US" b="0"/>
            </a:br>
            <a:r>
              <a:rPr lang="en-US"/>
              <a:t>Deep</a:t>
            </a:r>
            <a:r>
              <a:rPr lang="en-US" b="0"/>
              <a:t> waveguide, h=300nm, w=1.2um   - </a:t>
            </a:r>
            <a:r>
              <a:rPr lang="en-US"/>
              <a:t>Shallow</a:t>
            </a:r>
            <a:r>
              <a:rPr lang="en-US" b="0"/>
              <a:t> waveguide, core h=300nm, slab h=150 nm, w = 1.2um </a:t>
            </a:r>
            <a:br>
              <a:rPr lang="en-US" b="0"/>
            </a:br>
            <a:endParaRPr lang="en-US" sz="2500" b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D53B68D-17ED-7EFB-F2B4-10DA7A772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9AB8697-C1EE-6E9A-6550-ACA2C3AE6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D4A6C-5B37-EDF5-6242-74B16127E9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/>
              <p:nvPr/>
            </p:nvSpPr>
            <p:spPr>
              <a:xfrm>
                <a:off x="609441" y="4860334"/>
                <a:ext cx="11198542" cy="137152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28575">
                <a:solidFill>
                  <a:srgbClr val="E0700D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Find the second-degree polynomial coefficients and relate them with the group index and the dispersion parameter.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s-ES" sz="12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ES" sz="1200" b="0" i="1" smtClean="0">
                                <a:solidFill>
                                  <a:schemeClr val="accent3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𝑒𝑓𝑓</m:t>
                                </m:r>
                              </m:sub>
                            </m:sSub>
                            <m:r>
                              <a:rPr lang="es-ES" sz="1200" b="0" i="1" smtClean="0">
                                <a:solidFill>
                                  <a:schemeClr val="accent3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  <m:r>
                              <a:rPr lang="es-ES" sz="1200" b="0" i="1" smtClean="0">
                                <a:solidFill>
                                  <a:schemeClr val="accent3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s-ES" sz="1200" b="0" i="1" smtClean="0">
                                <a:solidFill>
                                  <a:schemeClr val="accent3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lang="es-ES" sz="1200" b="0" i="1" smtClean="0">
                                <a:solidFill>
                                  <a:schemeClr val="accent3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𝐷</m:t>
                            </m:r>
                            <m:r>
                              <a:rPr lang="es-ES" sz="1200" b="0" i="1" smtClean="0">
                                <a:solidFill>
                                  <a:schemeClr val="accent3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=−</m:t>
                            </m:r>
                            <m:f>
                              <m:fPr>
                                <m:ctrlP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s-ES" sz="1200" b="0" i="1" smtClean="0">
                                        <a:solidFill>
                                          <a:schemeClr val="accent3">
                                            <a:lumMod val="40000"/>
                                            <a:lumOff val="6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solidFill>
                                          <a:schemeClr val="accent3">
                                            <a:lumMod val="40000"/>
                                            <a:lumOff val="6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solidFill>
                                          <a:schemeClr val="accent3">
                                            <a:lumMod val="40000"/>
                                            <a:lumOff val="6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s-ES" sz="1200" b="0" i="1" smtClean="0">
                                        <a:solidFill>
                                          <a:schemeClr val="accent3">
                                            <a:lumMod val="40000"/>
                                            <a:lumOff val="6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1200" b="0" i="1" smtClean="0">
                                        <a:solidFill>
                                          <a:schemeClr val="accent3">
                                            <a:lumMod val="40000"/>
                                            <a:lumOff val="6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s-ES" sz="1200" b="0" i="1" smtClean="0">
                                        <a:solidFill>
                                          <a:schemeClr val="accent3">
                                            <a:lumMod val="40000"/>
                                            <a:lumOff val="6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𝑐</m:t>
                                </m:r>
                              </m:den>
                            </m:f>
                            <m:d>
                              <m:dPr>
                                <m:begChr m:val="["/>
                                <m:endChr m:val="]"/>
                                <m:ctrlPr>
                                  <a:rPr lang="es-ES" sz="1200" b="0" i="1" smtClean="0">
                                    <a:solidFill>
                                      <a:schemeClr val="accent3">
                                        <a:lumMod val="40000"/>
                                        <a:lumOff val="6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ES" sz="1200" b="0" i="1" smtClean="0">
                                        <a:solidFill>
                                          <a:schemeClr val="accent3">
                                            <a:lumMod val="40000"/>
                                            <a:lumOff val="6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ES" sz="1200" b="0" i="1" smtClean="0">
                                            <a:solidFill>
                                              <a:schemeClr val="accent3">
                                                <a:lumMod val="40000"/>
                                                <a:lumOff val="6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ES" sz="1200" b="0" i="1" smtClean="0">
                                            <a:solidFill>
                                              <a:schemeClr val="accent3">
                                                <a:lumMod val="40000"/>
                                                <a:lumOff val="6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s-ES" sz="1200" b="0" i="1" smtClean="0">
                                            <a:solidFill>
                                              <a:schemeClr val="accent3">
                                                <a:lumMod val="40000"/>
                                                <a:lumOff val="6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ES" sz="1200" b="0" i="1" smtClean="0">
                                        <a:solidFill>
                                          <a:schemeClr val="accent3">
                                            <a:lumMod val="40000"/>
                                            <a:lumOff val="6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es-ES" sz="1200" b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20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just"/>
                <a:r>
                  <a:rPr lang="en-US" sz="120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Comment on the results found for the TE0 and TM0 for both deep and shallow waveguides.</a:t>
                </a:r>
              </a:p>
              <a:p>
                <a:pPr algn="just"/>
                <a:r>
                  <a:rPr lang="en-US" sz="120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440F587-93A3-E474-C0B0-883BB9DAF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" y="4860334"/>
                <a:ext cx="11198542" cy="13715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E0700D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A6B92C76-6772-2E00-346F-532321092C0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628E-6E58-1F7E-B6C6-432B9A22839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9B6428-4395-242F-54D8-A9FC610F2D7A}"/>
                  </a:ext>
                </a:extLst>
              </p:cNvPr>
              <p:cNvSpPr txBox="1"/>
              <p:nvPr/>
            </p:nvSpPr>
            <p:spPr>
              <a:xfrm>
                <a:off x="609440" y="2709096"/>
                <a:ext cx="54865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/>
                  <a:t>deep</a:t>
                </a:r>
                <a:r>
                  <a:rPr lang="en-US"/>
                  <a:t> waveguide</a:t>
                </a:r>
              </a:p>
              <a:p>
                <a:pPr algn="ctr"/>
                <a:endParaRPr lang="en-US"/>
              </a:p>
              <a:p>
                <a:pPr algn="ctr"/>
                <a:r>
                  <a:rPr lang="en-US" b="1"/>
                  <a:t>neff_TE0 vs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with the second-degree polynomial fit  </a:t>
                </a:r>
              </a:p>
              <a:p>
                <a:pPr algn="ctr"/>
                <a:r>
                  <a:rPr lang="en-US"/>
                  <a:t>&amp; </a:t>
                </a:r>
                <a:r>
                  <a:rPr lang="en-US" b="1"/>
                  <a:t>neff_TM0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with the second-degree polynomial fit </a:t>
                </a:r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59B6428-4395-242F-54D8-A9FC610F2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0" y="2709096"/>
                <a:ext cx="5486559" cy="1200329"/>
              </a:xfrm>
              <a:prstGeom prst="rect">
                <a:avLst/>
              </a:prstGeom>
              <a:blipFill>
                <a:blip r:embed="rId6"/>
                <a:stretch>
                  <a:fillRect t="-2538" r="-556" b="-71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320AF78-1FC6-19F4-8E0B-8A414F20C6DE}"/>
                  </a:ext>
                </a:extLst>
              </p:cNvPr>
              <p:cNvSpPr txBox="1"/>
              <p:nvPr/>
            </p:nvSpPr>
            <p:spPr>
              <a:xfrm>
                <a:off x="6321421" y="2709096"/>
                <a:ext cx="54865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/>
                  <a:t>shallow</a:t>
                </a:r>
                <a:r>
                  <a:rPr lang="en-US"/>
                  <a:t> waveguide</a:t>
                </a:r>
              </a:p>
              <a:p>
                <a:pPr algn="ctr"/>
                <a:endParaRPr lang="en-US"/>
              </a:p>
              <a:p>
                <a:pPr algn="ctr"/>
                <a:r>
                  <a:rPr lang="en-US" b="1"/>
                  <a:t>neff_TE0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with the second-degree polynomial fit  </a:t>
                </a:r>
              </a:p>
              <a:p>
                <a:pPr algn="ctr"/>
                <a:r>
                  <a:rPr lang="en-US"/>
                  <a:t>&amp; </a:t>
                </a:r>
                <a:r>
                  <a:rPr lang="en-US" b="1"/>
                  <a:t>neff_TM0 vs </a:t>
                </a:r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with the second-degree polynomial fit </a:t>
                </a: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320AF78-1FC6-19F4-8E0B-8A414F20C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421" y="2709096"/>
                <a:ext cx="5486559" cy="1200329"/>
              </a:xfrm>
              <a:prstGeom prst="rect">
                <a:avLst/>
              </a:prstGeom>
              <a:blipFill>
                <a:blip r:embed="rId7"/>
                <a:stretch>
                  <a:fillRect t="-2538" r="-556" b="-71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0F38E924-A0E7-A039-C837-916BA77FE89B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0773CC-84B8-64A1-8D2E-AFA98F69DB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482651"/>
            <a:ext cx="5410200" cy="3243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B45736-ECBD-C1AA-1EB2-7AB6D2269C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8790" y="1588470"/>
            <a:ext cx="5387779" cy="31428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CBFE9FC-BD6A-E9DB-A336-6E051469C18C}"/>
                  </a:ext>
                </a:extLst>
              </p14:cNvPr>
              <p14:cNvContentPartPr/>
              <p14:nvPr/>
            </p14:nvContentPartPr>
            <p14:xfrm>
              <a:off x="6149" y="4311541"/>
              <a:ext cx="36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CBFE9FC-BD6A-E9DB-A336-6E051469C18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" y="430542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8277A1B-5CAB-1316-AB99-0072650D5710}"/>
              </a:ext>
            </a:extLst>
          </p:cNvPr>
          <p:cNvSpPr txBox="1"/>
          <p:nvPr/>
        </p:nvSpPr>
        <p:spPr>
          <a:xfrm>
            <a:off x="683968" y="4857138"/>
            <a:ext cx="3727237" cy="13849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s-ES" sz="1200" b="1" u="sng"/>
              <a:t>DEEP WAVEGUIDE</a:t>
            </a:r>
          </a:p>
          <a:p>
            <a:pPr algn="ctr"/>
            <a:r>
              <a:rPr lang="es-ES" sz="1200"/>
              <a:t>Índice efectivo TE: 1.6049166223392648</a:t>
            </a:r>
          </a:p>
          <a:p>
            <a:pPr algn="ctr"/>
            <a:r>
              <a:rPr lang="es-ES" sz="1200"/>
              <a:t>Índice efectivo TM: 1.527189233137181</a:t>
            </a:r>
          </a:p>
          <a:p>
            <a:pPr algn="ctr"/>
            <a:r>
              <a:rPr lang="es-ES" sz="1200"/>
              <a:t>Índice de grupo TE: 1.939993860241442</a:t>
            </a:r>
          </a:p>
          <a:p>
            <a:pPr algn="ctr"/>
            <a:r>
              <a:rPr lang="es-ES" sz="1200"/>
              <a:t>Índice de grupo TM: 1.7721028946948656</a:t>
            </a:r>
          </a:p>
          <a:p>
            <a:pPr algn="ctr"/>
            <a:r>
              <a:rPr lang="es-ES" sz="1200"/>
              <a:t>Dispersión TE: -1006.6988013196043 </a:t>
            </a:r>
            <a:r>
              <a:rPr lang="es-ES" sz="1200" err="1"/>
              <a:t>ps</a:t>
            </a:r>
            <a:r>
              <a:rPr lang="es-ES" sz="1200"/>
              <a:t>/(</a:t>
            </a:r>
            <a:r>
              <a:rPr lang="es-ES" sz="1200" err="1"/>
              <a:t>km·nm</a:t>
            </a:r>
            <a:r>
              <a:rPr lang="es-ES" sz="1200"/>
              <a:t>)</a:t>
            </a:r>
          </a:p>
          <a:p>
            <a:pPr algn="ctr"/>
            <a:r>
              <a:rPr lang="es-ES" sz="1200"/>
              <a:t>Dispersión TM: -1590.6948137425895 </a:t>
            </a:r>
            <a:r>
              <a:rPr lang="es-ES" sz="1200" err="1"/>
              <a:t>ps</a:t>
            </a:r>
            <a:r>
              <a:rPr lang="es-ES" sz="1200"/>
              <a:t>/(</a:t>
            </a:r>
            <a:r>
              <a:rPr lang="es-ES" sz="1200" err="1"/>
              <a:t>km·nm</a:t>
            </a:r>
            <a:r>
              <a:rPr lang="es-ES" sz="120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121A71-8D3A-111A-E5E5-257BC6F63D1B}"/>
              </a:ext>
            </a:extLst>
          </p:cNvPr>
          <p:cNvSpPr txBox="1"/>
          <p:nvPr/>
        </p:nvSpPr>
        <p:spPr>
          <a:xfrm>
            <a:off x="8151844" y="4850240"/>
            <a:ext cx="3549650" cy="137441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defRPr sz="1200" b="1" u="sng"/>
            </a:lvl1pPr>
          </a:lstStyle>
          <a:p>
            <a:r>
              <a:rPr lang="es-ES" dirty="0"/>
              <a:t>SHALLOW WAVEGUIDE</a:t>
            </a:r>
          </a:p>
          <a:p>
            <a:r>
              <a:rPr lang="es-ES" b="0" u="none" dirty="0"/>
              <a:t>Índice efectivo TE: 1.63177064118281</a:t>
            </a:r>
          </a:p>
          <a:p>
            <a:r>
              <a:rPr lang="es-ES" b="0" u="none" dirty="0"/>
              <a:t>Índice efectivo TM: 1.5474343360678748</a:t>
            </a:r>
          </a:p>
          <a:p>
            <a:r>
              <a:rPr lang="es-ES" b="0" u="none" dirty="0"/>
              <a:t>Índice de grupo TE: 1.6924915028189687</a:t>
            </a:r>
          </a:p>
          <a:p>
            <a:r>
              <a:rPr lang="es-ES" b="0" u="none" dirty="0"/>
              <a:t>Índice de grupo TM: 1.5924489851346644</a:t>
            </a:r>
          </a:p>
          <a:p>
            <a:r>
              <a:rPr lang="es-ES" b="0" u="none" dirty="0"/>
              <a:t>Dispersión TE: -989.5411958719758 </a:t>
            </a:r>
            <a:r>
              <a:rPr lang="es-ES" b="0" u="none" dirty="0" err="1"/>
              <a:t>ps</a:t>
            </a:r>
            <a:r>
              <a:rPr lang="es-ES" b="0" u="none" dirty="0"/>
              <a:t>/(</a:t>
            </a:r>
            <a:r>
              <a:rPr lang="es-ES" b="0" u="none" dirty="0" err="1"/>
              <a:t>km·nm</a:t>
            </a:r>
            <a:r>
              <a:rPr lang="es-ES" b="0" u="none" dirty="0"/>
              <a:t>)</a:t>
            </a:r>
          </a:p>
          <a:p>
            <a:r>
              <a:rPr lang="es-ES" b="0" u="none" dirty="0"/>
              <a:t>Dispersión TM: -1530.4984150291305 </a:t>
            </a:r>
            <a:r>
              <a:rPr lang="es-ES" b="0" u="none" dirty="0" err="1"/>
              <a:t>ps</a:t>
            </a:r>
            <a:r>
              <a:rPr lang="es-ES" b="0" u="none" dirty="0"/>
              <a:t>/(</a:t>
            </a:r>
            <a:r>
              <a:rPr lang="es-ES" b="0" u="none" dirty="0" err="1"/>
              <a:t>km·nm</a:t>
            </a:r>
            <a:r>
              <a:rPr lang="es-ES" b="0" u="none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90C89-0D57-A4AF-29F3-1996A28C6FDB}"/>
              </a:ext>
            </a:extLst>
          </p:cNvPr>
          <p:cNvSpPr txBox="1"/>
          <p:nvPr/>
        </p:nvSpPr>
        <p:spPr>
          <a:xfrm>
            <a:off x="4421622" y="5019165"/>
            <a:ext cx="3623733" cy="101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200" dirty="0" err="1">
                <a:ea typeface="Calibri"/>
                <a:cs typeface="Calibri"/>
              </a:rPr>
              <a:t>Shallow</a:t>
            </a:r>
            <a:r>
              <a:rPr lang="es-ES" sz="1200" dirty="0">
                <a:ea typeface="Calibri"/>
                <a:cs typeface="Calibri"/>
              </a:rPr>
              <a:t> es más estable y menos </a:t>
            </a:r>
            <a:r>
              <a:rPr lang="es-ES" sz="1200" dirty="0" err="1">
                <a:ea typeface="Calibri"/>
                <a:cs typeface="Calibri"/>
              </a:rPr>
              <a:t>dipersivo</a:t>
            </a:r>
            <a:r>
              <a:rPr lang="es-ES" sz="1200" dirty="0">
                <a:ea typeface="Calibri"/>
                <a:cs typeface="Calibri"/>
              </a:rPr>
              <a:t>, mientras que el </a:t>
            </a:r>
            <a:r>
              <a:rPr lang="es-ES" sz="1200" dirty="0" err="1">
                <a:ea typeface="Calibri"/>
                <a:cs typeface="Calibri"/>
              </a:rPr>
              <a:t>deep</a:t>
            </a:r>
            <a:r>
              <a:rPr lang="es-ES" sz="1200" dirty="0">
                <a:ea typeface="Calibri"/>
                <a:cs typeface="Calibri"/>
              </a:rPr>
              <a:t> es mas sensible a la longitud de onda.</a:t>
            </a:r>
          </a:p>
          <a:p>
            <a:pPr algn="ctr"/>
            <a:r>
              <a:rPr lang="es-ES" sz="1200" dirty="0">
                <a:latin typeface="Aptos"/>
              </a:rPr>
              <a:t>En </a:t>
            </a:r>
            <a:r>
              <a:rPr lang="es-ES" sz="1200" dirty="0" err="1">
                <a:latin typeface="Aptos"/>
              </a:rPr>
              <a:t>shallow</a:t>
            </a:r>
            <a:r>
              <a:rPr lang="es-ES" sz="1200" dirty="0">
                <a:latin typeface="Aptos"/>
              </a:rPr>
              <a:t> tenemos </a:t>
            </a:r>
            <a:r>
              <a:rPr lang="es-ES" sz="1200" dirty="0" err="1">
                <a:latin typeface="Aptos"/>
              </a:rPr>
              <a:t>neff</a:t>
            </a:r>
            <a:r>
              <a:rPr lang="es-ES" sz="1200" dirty="0">
                <a:latin typeface="Aptos"/>
              </a:rPr>
              <a:t> mas altos en ambos modos, el </a:t>
            </a:r>
            <a:r>
              <a:rPr lang="es-ES" sz="1200" dirty="0" err="1">
                <a:latin typeface="Aptos"/>
              </a:rPr>
              <a:t>indice</a:t>
            </a:r>
            <a:r>
              <a:rPr lang="es-ES" sz="1200" dirty="0">
                <a:latin typeface="Aptos"/>
              </a:rPr>
              <a:t> de grupo es mayor en la </a:t>
            </a:r>
            <a:r>
              <a:rPr lang="es-ES" sz="1200" dirty="0" err="1">
                <a:latin typeface="Aptos"/>
              </a:rPr>
              <a:t>deep</a:t>
            </a:r>
            <a:r>
              <a:rPr lang="es-ES" sz="1200" dirty="0">
                <a:latin typeface="Aptos"/>
              </a:rPr>
              <a:t> y la </a:t>
            </a:r>
            <a:r>
              <a:rPr lang="es-ES" sz="1200" dirty="0" err="1">
                <a:latin typeface="Aptos"/>
              </a:rPr>
              <a:t>dispersion</a:t>
            </a:r>
            <a:r>
              <a:rPr lang="es-ES" sz="1200" dirty="0">
                <a:latin typeface="Aptos"/>
              </a:rPr>
              <a:t> es menor en la </a:t>
            </a:r>
            <a:r>
              <a:rPr lang="es-ES" sz="1200" dirty="0" err="1">
                <a:latin typeface="Aptos"/>
              </a:rPr>
              <a:t>shallow</a:t>
            </a:r>
            <a:r>
              <a:rPr lang="es-ES" sz="1200" dirty="0">
                <a:latin typeface="Aptos"/>
              </a:rPr>
              <a:t>.</a:t>
            </a:r>
            <a:endParaRPr lang="es-ES" sz="1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05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92064-BD8F-8664-9FA3-770610A5B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83E1617-9BD1-121A-B2AB-C81907D9CA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1515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#5 – Bend waveguide radius vs. loss – deep</a:t>
            </a:r>
            <a:br>
              <a:rPr lang="en-US" sz="2500" dirty="0"/>
            </a:br>
            <a:r>
              <a:rPr lang="en-US" sz="2400" dirty="0"/>
              <a:t>MODE MISMATCH LOSS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E416430-0E03-BD08-0A55-00B30C86B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B7FF8B-069C-7022-0039-D8E47BD947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93B4AD3-F587-E6E9-09A8-9A73FD49079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657D68A-FB11-1B8D-1AF9-EC4F5CDCC15A}"/>
              </a:ext>
            </a:extLst>
          </p:cNvPr>
          <p:cNvSpPr txBox="1"/>
          <p:nvPr/>
        </p:nvSpPr>
        <p:spPr>
          <a:xfrm>
            <a:off x="609441" y="5273005"/>
            <a:ext cx="1119997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200" dirty="0">
                <a:latin typeface="Arial"/>
                <a:ea typeface="+mn-lt"/>
                <a:cs typeface="Arial"/>
              </a:rPr>
              <a:t>A </a:t>
            </a:r>
            <a:r>
              <a:rPr lang="en-US" sz="1200" dirty="0" err="1">
                <a:latin typeface="Arial"/>
                <a:ea typeface="+mn-lt"/>
                <a:cs typeface="Arial"/>
              </a:rPr>
              <a:t>medida</a:t>
            </a:r>
            <a:r>
              <a:rPr lang="en-US" sz="1200" dirty="0">
                <a:latin typeface="Arial"/>
                <a:ea typeface="+mn-lt"/>
                <a:cs typeface="Arial"/>
              </a:rPr>
              <a:t> </a:t>
            </a:r>
            <a:r>
              <a:rPr lang="en-US" sz="1200" dirty="0" err="1">
                <a:latin typeface="Arial"/>
                <a:ea typeface="+mn-lt"/>
                <a:cs typeface="Arial"/>
              </a:rPr>
              <a:t>que</a:t>
            </a:r>
            <a:r>
              <a:rPr lang="en-US" sz="1200" dirty="0">
                <a:latin typeface="Arial"/>
                <a:ea typeface="+mn-lt"/>
                <a:cs typeface="Arial"/>
              </a:rPr>
              <a:t> </a:t>
            </a:r>
            <a:r>
              <a:rPr lang="en-US" sz="1200" dirty="0" err="1">
                <a:latin typeface="Arial"/>
                <a:ea typeface="+mn-lt"/>
                <a:cs typeface="Arial"/>
              </a:rPr>
              <a:t>aumentamos</a:t>
            </a:r>
            <a:r>
              <a:rPr lang="en-US" sz="1200" dirty="0">
                <a:latin typeface="Arial"/>
                <a:ea typeface="+mn-lt"/>
                <a:cs typeface="Arial"/>
              </a:rPr>
              <a:t> </a:t>
            </a:r>
            <a:r>
              <a:rPr lang="en-US" sz="1200" dirty="0" err="1">
                <a:latin typeface="Arial"/>
                <a:ea typeface="+mn-lt"/>
                <a:cs typeface="Arial"/>
              </a:rPr>
              <a:t>el</a:t>
            </a:r>
            <a:r>
              <a:rPr lang="en-US" sz="1200" dirty="0">
                <a:latin typeface="Arial"/>
                <a:ea typeface="+mn-lt"/>
                <a:cs typeface="Arial"/>
              </a:rPr>
              <a:t> radio de </a:t>
            </a:r>
            <a:r>
              <a:rPr lang="en-US" sz="1200" dirty="0" err="1">
                <a:latin typeface="Arial"/>
                <a:ea typeface="+mn-lt"/>
                <a:cs typeface="Arial"/>
              </a:rPr>
              <a:t>curvatura</a:t>
            </a:r>
            <a:r>
              <a:rPr lang="en-US" sz="1200" dirty="0">
                <a:latin typeface="Arial"/>
                <a:ea typeface="+mn-lt"/>
                <a:cs typeface="Arial"/>
              </a:rPr>
              <a:t>, las </a:t>
            </a:r>
            <a:r>
              <a:rPr lang="en-US" sz="1200" dirty="0" err="1">
                <a:latin typeface="Arial"/>
                <a:ea typeface="+mn-lt"/>
                <a:cs typeface="Arial"/>
              </a:rPr>
              <a:t>pérdidias</a:t>
            </a:r>
            <a:r>
              <a:rPr lang="en-US" sz="1200" dirty="0">
                <a:latin typeface="Arial"/>
                <a:ea typeface="+mn-lt"/>
                <a:cs typeface="Arial"/>
              </a:rPr>
              <a:t> </a:t>
            </a:r>
            <a:r>
              <a:rPr lang="en-US" sz="1200" dirty="0" err="1">
                <a:latin typeface="Arial"/>
                <a:ea typeface="+mn-lt"/>
                <a:cs typeface="Arial"/>
              </a:rPr>
              <a:t>por</a:t>
            </a:r>
            <a:r>
              <a:rPr lang="en-US" sz="1200" dirty="0">
                <a:latin typeface="Arial"/>
                <a:ea typeface="+mn-lt"/>
                <a:cs typeface="Arial"/>
              </a:rPr>
              <a:t> </a:t>
            </a:r>
            <a:r>
              <a:rPr lang="en-US" sz="1200" dirty="0" err="1">
                <a:latin typeface="Arial"/>
                <a:ea typeface="+mn-lt"/>
                <a:cs typeface="Arial"/>
              </a:rPr>
              <a:t>desajuste</a:t>
            </a:r>
            <a:r>
              <a:rPr lang="en-US" sz="1200" dirty="0">
                <a:latin typeface="Arial"/>
                <a:ea typeface="+mn-lt"/>
                <a:cs typeface="Arial"/>
              </a:rPr>
              <a:t> son </a:t>
            </a:r>
            <a:r>
              <a:rPr lang="en-US" sz="1200" dirty="0" err="1">
                <a:latin typeface="Arial"/>
                <a:ea typeface="+mn-lt"/>
                <a:cs typeface="Arial"/>
              </a:rPr>
              <a:t>menores</a:t>
            </a:r>
            <a:r>
              <a:rPr lang="en-US" sz="1200" dirty="0">
                <a:latin typeface="Arial"/>
                <a:ea typeface="+mn-lt"/>
                <a:cs typeface="Arial"/>
              </a:rPr>
              <a:t>. Esto es </a:t>
            </a:r>
            <a:r>
              <a:rPr lang="en-US" sz="1200" dirty="0" err="1">
                <a:latin typeface="Arial"/>
                <a:ea typeface="+mn-lt"/>
                <a:cs typeface="Arial"/>
              </a:rPr>
              <a:t>debido</a:t>
            </a:r>
            <a:r>
              <a:rPr lang="en-US" sz="1200" dirty="0">
                <a:latin typeface="Arial"/>
                <a:ea typeface="+mn-lt"/>
                <a:cs typeface="Arial"/>
              </a:rPr>
              <a:t> a lo </a:t>
            </a:r>
            <a:r>
              <a:rPr lang="en-US" sz="1200" dirty="0" err="1">
                <a:latin typeface="Arial"/>
                <a:ea typeface="+mn-lt"/>
                <a:cs typeface="Arial"/>
              </a:rPr>
              <a:t>que</a:t>
            </a:r>
            <a:r>
              <a:rPr lang="en-US" sz="1200" dirty="0">
                <a:latin typeface="Arial"/>
                <a:ea typeface="+mn-lt"/>
                <a:cs typeface="Arial"/>
              </a:rPr>
              <a:t> indica la </a:t>
            </a:r>
            <a:r>
              <a:rPr lang="en-US" sz="1200" dirty="0" err="1">
                <a:latin typeface="Arial"/>
                <a:ea typeface="+mn-lt"/>
                <a:cs typeface="Arial"/>
              </a:rPr>
              <a:t>gráfica</a:t>
            </a:r>
            <a:r>
              <a:rPr lang="en-US" sz="1200" dirty="0">
                <a:latin typeface="Arial"/>
                <a:ea typeface="+mn-lt"/>
                <a:cs typeface="Arial"/>
              </a:rPr>
              <a:t>, </a:t>
            </a:r>
            <a:r>
              <a:rPr lang="en-US" sz="1200" dirty="0" err="1">
                <a:latin typeface="Arial"/>
                <a:ea typeface="+mn-lt"/>
                <a:cs typeface="Arial"/>
              </a:rPr>
              <a:t>que</a:t>
            </a:r>
            <a:r>
              <a:rPr lang="en-US" sz="1200" dirty="0">
                <a:latin typeface="Arial"/>
                <a:ea typeface="+mn-lt"/>
                <a:cs typeface="Arial"/>
              </a:rPr>
              <a:t> </a:t>
            </a:r>
            <a:r>
              <a:rPr lang="en-US" sz="1200" dirty="0" err="1">
                <a:latin typeface="Arial"/>
                <a:ea typeface="+mn-lt"/>
                <a:cs typeface="Arial"/>
              </a:rPr>
              <a:t>los</a:t>
            </a:r>
            <a:r>
              <a:rPr lang="en-US" sz="1200" dirty="0">
                <a:latin typeface="Arial"/>
                <a:ea typeface="+mn-lt"/>
                <a:cs typeface="Arial"/>
              </a:rPr>
              <a:t> radios </a:t>
            </a:r>
            <a:r>
              <a:rPr lang="en-US" sz="1200" dirty="0" err="1">
                <a:latin typeface="Arial"/>
                <a:ea typeface="+mn-lt"/>
                <a:cs typeface="Arial"/>
              </a:rPr>
              <a:t>más</a:t>
            </a:r>
            <a:r>
              <a:rPr lang="en-US" sz="1200" dirty="0">
                <a:latin typeface="Arial"/>
                <a:ea typeface="+mn-lt"/>
                <a:cs typeface="Arial"/>
              </a:rPr>
              <a:t> </a:t>
            </a:r>
            <a:r>
              <a:rPr lang="en-US" sz="1200" dirty="0" err="1">
                <a:latin typeface="Arial"/>
                <a:ea typeface="+mn-lt"/>
                <a:cs typeface="Arial"/>
              </a:rPr>
              <a:t>pequeños</a:t>
            </a:r>
            <a:r>
              <a:rPr lang="en-US" sz="1200" dirty="0">
                <a:latin typeface="Arial"/>
                <a:ea typeface="+mn-lt"/>
                <a:cs typeface="Arial"/>
              </a:rPr>
              <a:t> son </a:t>
            </a:r>
            <a:r>
              <a:rPr lang="en-US" sz="1200" dirty="0" err="1">
                <a:latin typeface="Arial"/>
                <a:ea typeface="+mn-lt"/>
                <a:cs typeface="Arial"/>
              </a:rPr>
              <a:t>más</a:t>
            </a:r>
            <a:r>
              <a:rPr lang="en-US" sz="1200" dirty="0">
                <a:latin typeface="Arial"/>
                <a:ea typeface="+mn-lt"/>
                <a:cs typeface="Arial"/>
              </a:rPr>
              <a:t> </a:t>
            </a:r>
            <a:r>
              <a:rPr lang="en-US" sz="1200" dirty="0" err="1">
                <a:latin typeface="Arial"/>
                <a:ea typeface="+mn-lt"/>
                <a:cs typeface="Arial"/>
              </a:rPr>
              <a:t>susceptibles</a:t>
            </a:r>
            <a:r>
              <a:rPr lang="en-US" sz="1200" dirty="0">
                <a:latin typeface="Arial"/>
                <a:ea typeface="+mn-lt"/>
                <a:cs typeface="Arial"/>
              </a:rPr>
              <a:t> a </a:t>
            </a:r>
            <a:r>
              <a:rPr lang="en-US" sz="1200" dirty="0" err="1">
                <a:latin typeface="Arial"/>
                <a:ea typeface="+mn-lt"/>
                <a:cs typeface="Arial"/>
              </a:rPr>
              <a:t>desajustes</a:t>
            </a:r>
            <a:r>
              <a:rPr lang="en-US" sz="1200" dirty="0">
                <a:latin typeface="Arial"/>
                <a:ea typeface="+mn-lt"/>
                <a:cs typeface="Arial"/>
              </a:rPr>
              <a:t> entre </a:t>
            </a:r>
            <a:r>
              <a:rPr lang="en-US" sz="1200" dirty="0" err="1">
                <a:latin typeface="Arial"/>
                <a:ea typeface="+mn-lt"/>
                <a:cs typeface="Arial"/>
              </a:rPr>
              <a:t>los</a:t>
            </a:r>
            <a:r>
              <a:rPr lang="en-US" sz="1200" dirty="0">
                <a:latin typeface="Arial"/>
                <a:ea typeface="+mn-lt"/>
                <a:cs typeface="Arial"/>
              </a:rPr>
              <a:t> </a:t>
            </a:r>
            <a:r>
              <a:rPr lang="en-US" sz="1200" dirty="0" err="1">
                <a:latin typeface="Arial"/>
                <a:ea typeface="+mn-lt"/>
                <a:cs typeface="Arial"/>
              </a:rPr>
              <a:t>modos</a:t>
            </a:r>
            <a:r>
              <a:rPr lang="en-US" sz="1200" dirty="0">
                <a:latin typeface="Arial"/>
                <a:ea typeface="+mn-lt"/>
                <a:cs typeface="Arial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/>
                <a:ea typeface="Calibri"/>
                <a:cs typeface="Arial"/>
              </a:rPr>
              <a:t>Tomando un radio </a:t>
            </a:r>
            <a:r>
              <a:rPr lang="en-US" sz="1200" dirty="0" err="1">
                <a:latin typeface="Arial"/>
                <a:ea typeface="Calibri"/>
                <a:cs typeface="Arial"/>
              </a:rPr>
              <a:t>seguro</a:t>
            </a:r>
            <a:r>
              <a:rPr lang="en-US" sz="1200" dirty="0">
                <a:latin typeface="Arial"/>
                <a:ea typeface="Calibri"/>
                <a:cs typeface="Arial"/>
              </a:rPr>
              <a:t> con </a:t>
            </a:r>
            <a:r>
              <a:rPr lang="en-US" sz="1200" dirty="0" err="1">
                <a:latin typeface="Arial"/>
                <a:ea typeface="Calibri"/>
                <a:cs typeface="Arial"/>
              </a:rPr>
              <a:t>el</a:t>
            </a:r>
            <a:r>
              <a:rPr lang="en-US" sz="1200" dirty="0">
                <a:latin typeface="Arial"/>
                <a:ea typeface="Calibri"/>
                <a:cs typeface="Arial"/>
              </a:rPr>
              <a:t> </a:t>
            </a:r>
            <a:r>
              <a:rPr lang="en-US" sz="1200" dirty="0" err="1">
                <a:latin typeface="Arial"/>
                <a:ea typeface="Calibri"/>
                <a:cs typeface="Arial"/>
              </a:rPr>
              <a:t>criterio</a:t>
            </a:r>
            <a:r>
              <a:rPr lang="en-US" sz="1200" dirty="0">
                <a:latin typeface="Arial"/>
                <a:ea typeface="Calibri"/>
                <a:cs typeface="Arial"/>
              </a:rPr>
              <a:t> de </a:t>
            </a:r>
            <a:r>
              <a:rPr lang="en-US" sz="1200" dirty="0" err="1">
                <a:latin typeface="Arial"/>
                <a:ea typeface="Calibri"/>
                <a:cs typeface="Arial"/>
              </a:rPr>
              <a:t>que</a:t>
            </a:r>
            <a:r>
              <a:rPr lang="en-US" sz="1200" dirty="0">
                <a:latin typeface="Arial"/>
                <a:ea typeface="Calibri"/>
                <a:cs typeface="Arial"/>
              </a:rPr>
              <a:t> las </a:t>
            </a:r>
            <a:r>
              <a:rPr lang="en-US" sz="1200" dirty="0" err="1">
                <a:latin typeface="Arial"/>
                <a:ea typeface="Calibri"/>
                <a:cs typeface="Arial"/>
              </a:rPr>
              <a:t>perdidas</a:t>
            </a:r>
            <a:r>
              <a:rPr lang="en-US" sz="1200" dirty="0">
                <a:latin typeface="Arial"/>
                <a:ea typeface="Calibri"/>
                <a:cs typeface="Arial"/>
              </a:rPr>
              <a:t> </a:t>
            </a:r>
            <a:r>
              <a:rPr lang="en-US" sz="1200" dirty="0" err="1">
                <a:latin typeface="Arial"/>
                <a:ea typeface="Calibri"/>
                <a:cs typeface="Arial"/>
              </a:rPr>
              <a:t>sean</a:t>
            </a:r>
            <a:r>
              <a:rPr lang="en-US" sz="1200" dirty="0">
                <a:latin typeface="Arial"/>
                <a:ea typeface="Calibri"/>
                <a:cs typeface="Arial"/>
              </a:rPr>
              <a:t> </a:t>
            </a:r>
            <a:r>
              <a:rPr lang="en-US" sz="1200" dirty="0" err="1">
                <a:latin typeface="Arial"/>
                <a:ea typeface="Calibri"/>
                <a:cs typeface="Arial"/>
              </a:rPr>
              <a:t>menores</a:t>
            </a:r>
            <a:r>
              <a:rPr lang="en-US" sz="1200" dirty="0">
                <a:latin typeface="Arial"/>
                <a:ea typeface="Calibri"/>
                <a:cs typeface="Arial"/>
              </a:rPr>
              <a:t> de 0.1 </a:t>
            </a:r>
            <a:r>
              <a:rPr lang="en-US" sz="1200" dirty="0" err="1">
                <a:latin typeface="Arial"/>
                <a:ea typeface="Calibri"/>
                <a:cs typeface="Arial"/>
              </a:rPr>
              <a:t>db</a:t>
            </a:r>
            <a:r>
              <a:rPr lang="en-US" sz="1200" dirty="0">
                <a:latin typeface="Arial"/>
                <a:ea typeface="Calibri"/>
                <a:cs typeface="Arial"/>
              </a:rPr>
              <a:t>/90º , se </a:t>
            </a:r>
            <a:r>
              <a:rPr lang="en-US" sz="1200" dirty="0" err="1">
                <a:latin typeface="Arial"/>
                <a:ea typeface="Calibri"/>
                <a:cs typeface="Arial"/>
              </a:rPr>
              <a:t>obtiene</a:t>
            </a:r>
            <a:r>
              <a:rPr lang="en-US" sz="1200" dirty="0">
                <a:latin typeface="Arial"/>
                <a:ea typeface="Calibri"/>
                <a:cs typeface="Arial"/>
              </a:rPr>
              <a:t> </a:t>
            </a:r>
            <a:r>
              <a:rPr lang="en-US" sz="1200" dirty="0" err="1">
                <a:latin typeface="Arial"/>
                <a:ea typeface="Calibri"/>
                <a:cs typeface="Arial"/>
              </a:rPr>
              <a:t>aproximadamente</a:t>
            </a:r>
            <a:r>
              <a:rPr lang="en-US" sz="1200" dirty="0">
                <a:latin typeface="Arial"/>
                <a:ea typeface="Calibri"/>
                <a:cs typeface="Arial"/>
              </a:rPr>
              <a:t> 30 um.</a:t>
            </a:r>
            <a:endParaRPr lang="en-US" sz="12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30C2B26-62DF-1579-7310-5093F8349112}"/>
              </a:ext>
            </a:extLst>
          </p:cNvPr>
          <p:cNvSpPr/>
          <p:nvPr/>
        </p:nvSpPr>
        <p:spPr>
          <a:xfrm>
            <a:off x="609441" y="1418372"/>
            <a:ext cx="11199971" cy="3687027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9EAB405-ACA5-945C-9EF4-52B5C9F9C7F2}"/>
              </a:ext>
            </a:extLst>
          </p:cNvPr>
          <p:cNvSpPr txBox="1"/>
          <p:nvPr/>
        </p:nvSpPr>
        <p:spPr>
          <a:xfrm>
            <a:off x="2978141" y="2784355"/>
            <a:ext cx="6235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Total Loss (dB/90º) vs R &amp; neff_TE0 vs 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CC72A0-3138-61BE-20BE-62F89C3C05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5962" y="1582150"/>
            <a:ext cx="4334085" cy="335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66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DBE2-4302-F77B-633D-257EC699A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A12DE32-2E77-271C-A96B-DA914104D3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1515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#5 – Bend waveguide radius vs. loss – deep</a:t>
            </a:r>
            <a:br>
              <a:rPr lang="en-US" sz="2500" dirty="0"/>
            </a:br>
            <a:r>
              <a:rPr lang="en-US" sz="2400" dirty="0"/>
              <a:t>PROPAGATION LOSS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A4DB090E-7D3B-145F-3D0E-F97C0D2F1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DA52E5AE-6DBA-FF9C-5594-EB42C497296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1BFC924-58B3-53D2-D14E-F13639A5707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041D6AF-9A9B-6DB9-5E4E-DF2A362A1239}"/>
              </a:ext>
            </a:extLst>
          </p:cNvPr>
          <p:cNvSpPr txBox="1"/>
          <p:nvPr/>
        </p:nvSpPr>
        <p:spPr>
          <a:xfrm>
            <a:off x="609441" y="5348720"/>
            <a:ext cx="1119997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podemos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concluir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curva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radio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curvatura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misma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Para radios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70 um,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dominan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debido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desplazamiento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modo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borde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mientras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para radios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mayores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predominan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recorrido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óptico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mayor.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El radio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seguro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alrededor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30 um,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totales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menores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0.1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dB.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753A77F-D7C7-48D2-D251-F64CA2183F13}"/>
              </a:ext>
            </a:extLst>
          </p:cNvPr>
          <p:cNvSpPr/>
          <p:nvPr/>
        </p:nvSpPr>
        <p:spPr>
          <a:xfrm>
            <a:off x="609441" y="1418372"/>
            <a:ext cx="11199971" cy="3754007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AB8F2ED-73A6-85A6-8782-F6876400AE76}"/>
              </a:ext>
            </a:extLst>
          </p:cNvPr>
          <p:cNvSpPr txBox="1"/>
          <p:nvPr/>
        </p:nvSpPr>
        <p:spPr>
          <a:xfrm>
            <a:off x="5573695" y="2505670"/>
            <a:ext cx="6235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Total Loss (dB/90º) vs R &amp; neff_TE0 vs 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B79569-E412-74CB-2727-84D8D59C3B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04" y="1442695"/>
            <a:ext cx="4535425" cy="3628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8FA132-7336-E8DD-DF0C-3E1F80647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6289" y="1651597"/>
            <a:ext cx="6006270" cy="32875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224ED2-0F61-5D61-7D2B-E322F17D4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3645" y="2092271"/>
            <a:ext cx="2642551" cy="111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64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60c4169-c067-4dfc-b212-3b05d96a7ec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750D0F23108224F90FEF5B9FC8631C3" ma:contentTypeVersion="18" ma:contentTypeDescription="Crear nuevo documento." ma:contentTypeScope="" ma:versionID="e4b865bb3655e38d5b125d48aa731d15">
  <xsd:schema xmlns:xsd="http://www.w3.org/2001/XMLSchema" xmlns:xs="http://www.w3.org/2001/XMLSchema" xmlns:p="http://schemas.microsoft.com/office/2006/metadata/properties" xmlns:ns3="c60c4169-c067-4dfc-b212-3b05d96a7ecd" xmlns:ns4="628a1654-b00c-40ae-8883-19ab0b2b6570" targetNamespace="http://schemas.microsoft.com/office/2006/metadata/properties" ma:root="true" ma:fieldsID="7da91d97627e1d846fad25bd1fe216dc" ns3:_="" ns4:_="">
    <xsd:import namespace="c60c4169-c067-4dfc-b212-3b05d96a7ecd"/>
    <xsd:import namespace="628a1654-b00c-40ae-8883-19ab0b2b657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0c4169-c067-4dfc-b212-3b05d96a7e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8a1654-b00c-40ae-8883-19ab0b2b657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A35BAC-F778-4AE8-897B-877E4C0C30FE}">
  <ds:schemaRefs>
    <ds:schemaRef ds:uri="http://www.w3.org/XML/1998/namespace"/>
    <ds:schemaRef ds:uri="628a1654-b00c-40ae-8883-19ab0b2b6570"/>
    <ds:schemaRef ds:uri="http://purl.org/dc/terms/"/>
    <ds:schemaRef ds:uri="c60c4169-c067-4dfc-b212-3b05d96a7ecd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dcmitype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6DC60C3C-944E-4D5A-A2EE-8719C42E51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BC10AF-1BAE-4E0A-9433-63C50D0F4D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0c4169-c067-4dfc-b212-3b05d96a7ecd"/>
    <ds:schemaRef ds:uri="628a1654-b00c-40ae-8883-19ab0b2b65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1585</TotalTime>
  <Words>1159</Words>
  <Application>Microsoft Office PowerPoint</Application>
  <PresentationFormat>Widescreen</PresentationFormat>
  <Paragraphs>103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Cambria Math</vt:lpstr>
      <vt:lpstr>Lucida Sans</vt:lpstr>
      <vt:lpstr>Office Theme</vt:lpstr>
      <vt:lpstr>PowerPoint Presentation</vt:lpstr>
      <vt:lpstr>Learning outcome #1 – Effective index of a waveguide MATERIALS </vt:lpstr>
      <vt:lpstr>Learning outcome #1 – Effective index of a waveguide CROSS – SECTION DEFINITION </vt:lpstr>
      <vt:lpstr>Learning outcome #1 – Effective index of a waveguide SIMULATIONS – NUMERICAL RESULTS </vt:lpstr>
      <vt:lpstr>Learning outcome #1 – Effective index of a waveguide SIMULATIONS – PLOTS </vt:lpstr>
      <vt:lpstr>Learning outcome #2 – Wavelength behavior Wavelength 1.5-1.6 µm (step 0.01 µm) – width 1.2 µm</vt:lpstr>
      <vt:lpstr>Learning outcome #3 – Width dependence Width 0.6 - 1.6 µm (step 0.1 µm) – Wavelength 1.55 µm </vt:lpstr>
      <vt:lpstr>Learning outcome #4 – Waveguide compact model - Find the compact models of the following waveguides:  Deep waveguide, h=300nm, w=1.2um   - Shallow waveguide, core h=300nm, slab h=150 nm, w = 1.2um  </vt:lpstr>
      <vt:lpstr>Learning outcome #5 – Bend waveguide radius vs. loss – deep MODE MISMATCH LOSS </vt:lpstr>
      <vt:lpstr>Learning outcome #5 – Bend waveguide radius vs. loss – deep PROPAGATION LOSS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Mara Sarrion Masip</cp:lastModifiedBy>
  <cp:revision>12</cp:revision>
  <dcterms:created xsi:type="dcterms:W3CDTF">2025-01-27T02:46:57Z</dcterms:created>
  <dcterms:modified xsi:type="dcterms:W3CDTF">2026-03-15T16:49:47Z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  <property fmtid="{D5CDD505-2E9C-101B-9397-08002B2CF9AE}" pid="5" name="ContentTypeId">
    <vt:lpwstr>0x0101007750D0F23108224F90FEF5B9FC8631C3</vt:lpwstr>
  </property>
</Properties>
</file>